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sldIdLst>
    <p:sldId id="261" r:id="rId2"/>
    <p:sldId id="256" r:id="rId3"/>
    <p:sldId id="257" r:id="rId4"/>
    <p:sldId id="258" r:id="rId5"/>
    <p:sldId id="259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183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5598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this project, I built an end-to-end machine learning pipeline focused on predicting financial price movement. The goal was not just model accuracy, but demonstrating correct ML workflow, which is a core expectation of the Codecademy AI/ML Engineer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 framed the problem as a binary classification task, predicting whether the price would move up or down. I carefully validated the dataset structure and ensured temporal consistency to avoid data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14A4C-9F28-EAD8-AE7A-D7F144076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9E7F4F-C2EE-5A6B-85F6-5C6339473B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D2A243-802A-0437-0798-52C6FDF376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 framed the problem as a binary classification task, predicting whether the price would move up or down. I carefully validated the dataset structure and ensured temporal consistency to avoid data leakage.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F3E77-BF85-619A-7683-0C6362A465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902274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EE80E-BCF5-05BB-27C7-0ECA705CF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909705-A7C7-B039-AC42-823EA6C5BC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075A02-2C3C-E56C-36A5-4D43717820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 framed the problem as a binary classification task, predicting whether the price would move up or down. I carefully validated the dataset structure and ensured temporal consistency to avoid data leakage.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16CAF4-9E26-AA46-F44F-CCF9B4A96E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937278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28C5A-3D60-B8D5-EFA9-D4361E6B1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012611-1A11-6085-5A23-48D43254C8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D45EE3-1053-0236-5988-6363F59499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 framed the problem as a binary classification task, predicting whether the price would move up or down. I carefully validated the dataset structure and ensured temporal consistency to avoid data leakage.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7C3C1B-4748-6C26-DAB7-EE622AE5FB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49014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36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574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304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438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216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515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63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497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25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674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4006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328843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9987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7831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1579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320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35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053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gabrielarcangelbol/" TargetMode="External"/><Relationship Id="rId2" Type="http://schemas.openxmlformats.org/officeDocument/2006/relationships/hyperlink" Target="https://github.com/gabrielarcangelbol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3A7AF43-7049-1744-1ADA-5ECE0CA24F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Predicting Market Direction: An ML Engineering Approach</a:t>
            </a:r>
            <a:endParaRPr lang="es-419" dirty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E33F9A04-0099-294A-33AD-7331B2968D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Integrating RSP Technicals with VIX Sentiment Data.</a:t>
            </a:r>
            <a:endParaRPr lang="es-419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0D5D5FE-6974-C833-A4AB-17FBC14D5107}"/>
              </a:ext>
            </a:extLst>
          </p:cNvPr>
          <p:cNvSpPr txBox="1"/>
          <p:nvPr/>
        </p:nvSpPr>
        <p:spPr>
          <a:xfrm>
            <a:off x="5050631" y="6274772"/>
            <a:ext cx="40933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Gabriel Arcangel Bol: Machine Learning / AI Engineer</a:t>
            </a:r>
            <a:endParaRPr lang="es-419" sz="14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219D857-F3DA-1269-939C-055D8686E17B}"/>
              </a:ext>
            </a:extLst>
          </p:cNvPr>
          <p:cNvSpPr txBox="1"/>
          <p:nvPr/>
        </p:nvSpPr>
        <p:spPr>
          <a:xfrm>
            <a:off x="3964781" y="6561921"/>
            <a:ext cx="77628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800" dirty="0" err="1"/>
              <a:t>January</a:t>
            </a:r>
            <a:r>
              <a:rPr lang="es-419" sz="800" dirty="0"/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2436016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Project </a:t>
            </a:r>
            <a:r>
              <a:rPr lang="es-419" dirty="0" err="1"/>
              <a:t>Overview</a:t>
            </a:r>
            <a:r>
              <a:rPr lang="es-419" dirty="0"/>
              <a:t> &amp; </a:t>
            </a:r>
            <a:r>
              <a:rPr lang="es-419" dirty="0" err="1"/>
              <a:t>Objective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1800" b="1" dirty="0"/>
              <a:t>Goal:</a:t>
            </a:r>
            <a:r>
              <a:rPr lang="en-GB" sz="1800" dirty="0"/>
              <a:t> Predict daily price movements (Up vs. Down/Flat) of the RSP (Equal Weight S&amp;P 500).</a:t>
            </a:r>
          </a:p>
          <a:p>
            <a:r>
              <a:rPr lang="en-GB" sz="1800" b="1" dirty="0"/>
              <a:t>Hypothesis:</a:t>
            </a:r>
            <a:r>
              <a:rPr lang="en-GB" sz="1800" dirty="0"/>
              <a:t> Adding market sentiment (VIX Index) to price technicals improves prediction accuracy by capturing "market fear.“</a:t>
            </a:r>
          </a:p>
          <a:p>
            <a:r>
              <a:rPr lang="en-GB" sz="1800" b="1" dirty="0"/>
              <a:t>The Problem:</a:t>
            </a:r>
            <a:r>
              <a:rPr lang="en-GB" sz="1800" dirty="0"/>
              <a:t> Financial data is extremely noisy; simple models often fail to generalize.</a:t>
            </a:r>
            <a:endParaRPr sz="1800" dirty="0"/>
          </a:p>
        </p:txBody>
      </p:sp>
      <p:pic>
        <p:nvPicPr>
          <p:cNvPr id="7" name="Imagen 6" descr="Interfaz de usuario gráfica, 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5AABC2E2-1871-99BF-283D-E90D8E7C7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0774" y="4455831"/>
            <a:ext cx="3362451" cy="16703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Engineering for Noise Reduction (PCA)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1800" b="1" dirty="0"/>
              <a:t>Challenge: </a:t>
            </a:r>
            <a:r>
              <a:rPr lang="en-GB" sz="1800" dirty="0"/>
              <a:t>Combining RSP technicals and VIX created a high-dimensional, noisy dataset.</a:t>
            </a:r>
          </a:p>
          <a:p>
            <a:r>
              <a:rPr lang="en-GB" sz="1800" b="1" dirty="0"/>
              <a:t>Solution: </a:t>
            </a:r>
            <a:r>
              <a:rPr lang="en-GB" sz="1800" dirty="0"/>
              <a:t>Applied </a:t>
            </a:r>
            <a:r>
              <a:rPr lang="en-GB" sz="1800" b="1" dirty="0"/>
              <a:t>Principal Component Analysis (PCA) </a:t>
            </a:r>
            <a:r>
              <a:rPr lang="en-GB" sz="1800" dirty="0"/>
              <a:t>to condense 12 features into 9 core components.</a:t>
            </a:r>
          </a:p>
          <a:p>
            <a:r>
              <a:rPr lang="en-GB" sz="1800" b="1" dirty="0"/>
              <a:t>Outcome: </a:t>
            </a:r>
            <a:r>
              <a:rPr lang="en-GB" sz="1800" dirty="0"/>
              <a:t>We retained </a:t>
            </a:r>
            <a:r>
              <a:rPr lang="en-GB" sz="1800" b="1" dirty="0"/>
              <a:t>95% of the variance </a:t>
            </a:r>
            <a:r>
              <a:rPr lang="en-GB" sz="1800" dirty="0"/>
              <a:t>while discarding the bottom 5% of statistical noise, creating a more stable input for the model.</a:t>
            </a:r>
            <a:endParaRPr sz="1800" dirty="0"/>
          </a:p>
        </p:txBody>
      </p:sp>
      <p:pic>
        <p:nvPicPr>
          <p:cNvPr id="5" name="Imagen 4" descr="Gráfico&#10;&#10;El contenido generado por IA puede ser incorrecto.">
            <a:extLst>
              <a:ext uri="{FF2B5EF4-FFF2-40B4-BE49-F238E27FC236}">
                <a16:creationId xmlns:a16="http://schemas.microsoft.com/office/drawing/2014/main" id="{A2FF4A18-8C55-5694-8AB9-82318DBBB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956" y="4619433"/>
            <a:ext cx="2986087" cy="17813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038B4-C6DE-CAC9-BCB7-87D8C5ED5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7E019-B16D-2FEE-027F-BD604E23E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 err="1"/>
              <a:t>The</a:t>
            </a:r>
            <a:r>
              <a:rPr lang="es-419" dirty="0"/>
              <a:t> </a:t>
            </a:r>
            <a:r>
              <a:rPr lang="es-419" dirty="0" err="1"/>
              <a:t>Production-Ready</a:t>
            </a:r>
            <a:r>
              <a:rPr lang="es-419" dirty="0"/>
              <a:t> Pipeline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D7A63-F6CF-C304-6AB9-F88CCC993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1800" b="1" dirty="0"/>
              <a:t>Architecture: </a:t>
            </a:r>
            <a:r>
              <a:rPr lang="en-GB" sz="1800" dirty="0"/>
              <a:t>Shifted from a manual script to a modular </a:t>
            </a:r>
            <a:r>
              <a:rPr lang="en-GB" sz="1800" i="1" dirty="0">
                <a:solidFill>
                  <a:schemeClr val="bg2">
                    <a:lumMod val="50000"/>
                  </a:schemeClr>
                </a:solidFill>
              </a:rPr>
              <a:t>scikit-learn Pipeline</a:t>
            </a:r>
            <a:r>
              <a:rPr lang="en-GB" sz="1800" dirty="0"/>
              <a:t>.</a:t>
            </a:r>
          </a:p>
          <a:p>
            <a:r>
              <a:rPr lang="en-GB" sz="1800" b="1" dirty="0"/>
              <a:t>Process: </a:t>
            </a:r>
            <a:r>
              <a:rPr lang="en-GB" sz="1800" dirty="0"/>
              <a:t>The pipeline automates Scaling -</a:t>
            </a:r>
            <a:r>
              <a:rPr lang="en-US" sz="1800" dirty="0"/>
              <a:t>&gt; </a:t>
            </a:r>
            <a:r>
              <a:rPr lang="en-GB" sz="1800" dirty="0"/>
              <a:t>PCA -&gt; Random Forest.</a:t>
            </a:r>
          </a:p>
          <a:p>
            <a:r>
              <a:rPr lang="en-GB" sz="1800" b="1" dirty="0"/>
              <a:t>Benefit: </a:t>
            </a:r>
            <a:r>
              <a:rPr lang="en-GB" sz="1800" dirty="0"/>
              <a:t>Ensures that "Future Data" (the test set) is treated exactly like the "Past Data," preventing </a:t>
            </a:r>
            <a:r>
              <a:rPr lang="en-GB" sz="1800" b="1" dirty="0"/>
              <a:t>Data Leakage </a:t>
            </a:r>
            <a:r>
              <a:rPr lang="en-GB" sz="1800" dirty="0"/>
              <a:t>and ensuring the model is ready for real-world deployment.</a:t>
            </a:r>
            <a:endParaRPr sz="1800" dirty="0"/>
          </a:p>
        </p:txBody>
      </p:sp>
      <p:pic>
        <p:nvPicPr>
          <p:cNvPr id="9" name="Imagen 8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A26F5622-2A9A-F28B-078A-505E75AD02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890" b="36281"/>
          <a:stretch>
            <a:fillRect/>
          </a:stretch>
        </p:blipFill>
        <p:spPr>
          <a:xfrm>
            <a:off x="1782991" y="4395787"/>
            <a:ext cx="5575636" cy="115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439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7B213-3CA6-0990-009D-1494BB2A9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23278-19AA-16FD-E29E-337BAAB91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Final </a:t>
            </a:r>
            <a:r>
              <a:rPr lang="es-419" dirty="0" err="1"/>
              <a:t>Results</a:t>
            </a:r>
            <a:r>
              <a:rPr lang="es-419" dirty="0"/>
              <a:t> &amp; Performance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C5218-4573-C8BB-38E5-7BD2EDA57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1800" b="1" dirty="0"/>
              <a:t>Precision Score: 53.70% </a:t>
            </a:r>
            <a:r>
              <a:rPr lang="en-GB" sz="1800" dirty="0"/>
              <a:t>on completely unseen data.</a:t>
            </a:r>
          </a:p>
          <a:p>
            <a:r>
              <a:rPr lang="en-GB" sz="1800" b="1" dirty="0"/>
              <a:t>Understanding the Edge: </a:t>
            </a:r>
            <a:r>
              <a:rPr lang="en-GB" sz="1800" dirty="0"/>
              <a:t>In stock market prediction, any edge above 50% is statistically significant for algorithmic strategies.</a:t>
            </a:r>
          </a:p>
          <a:p>
            <a:r>
              <a:rPr lang="en-GB" sz="1800" b="1" dirty="0"/>
              <a:t>Model Bias: </a:t>
            </a:r>
            <a:r>
              <a:rPr lang="en-GB" sz="1800" dirty="0"/>
              <a:t>The model is highly effective at identifying upward trends (</a:t>
            </a:r>
            <a:r>
              <a:rPr lang="en-GB" sz="1800" b="1" dirty="0"/>
              <a:t>92% Recall</a:t>
            </a:r>
            <a:r>
              <a:rPr lang="en-GB" sz="1800" dirty="0"/>
              <a:t>), though it is currently "bullish biased," meaning it stays invested most of the time.</a:t>
            </a:r>
            <a:endParaRPr sz="1800" dirty="0"/>
          </a:p>
        </p:txBody>
      </p:sp>
      <p:pic>
        <p:nvPicPr>
          <p:cNvPr id="6" name="Imagen 5" descr="Gráfico, Gráfico de rectángulos&#10;&#10;El contenido generado por IA puede ser incorrecto.">
            <a:extLst>
              <a:ext uri="{FF2B5EF4-FFF2-40B4-BE49-F238E27FC236}">
                <a16:creationId xmlns:a16="http://schemas.microsoft.com/office/drawing/2014/main" id="{BA8D7EDB-82A8-1161-44B1-7377FCF75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3300" y="4425439"/>
            <a:ext cx="2057400" cy="1735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321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A742A-3B87-E6E5-1727-5C42F6B94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66E2D-73FF-F202-5159-1D550F8D5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 err="1"/>
              <a:t>Conclusion</a:t>
            </a:r>
            <a:r>
              <a:rPr lang="es-419" dirty="0"/>
              <a:t> &amp; Key </a:t>
            </a:r>
            <a:r>
              <a:rPr lang="es-419" dirty="0" err="1"/>
              <a:t>Takeaways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6DCEC-2C77-6F6B-83DF-0AC18F2F8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Font typeface="+mj-lt"/>
              <a:buAutoNum type="arabicPeriod"/>
            </a:pPr>
            <a:r>
              <a:rPr lang="en-GB" sz="1800" b="1" dirty="0"/>
              <a:t>What did you learn? * </a:t>
            </a:r>
            <a:r>
              <a:rPr lang="en-GB" sz="1800" dirty="0"/>
              <a:t>I learned that "more data" (VIX) doesn't always mean "better results" immediately. Feature engineering (Scaling and PCA) is the bridge required to make different data sources work together.</a:t>
            </a:r>
          </a:p>
          <a:p>
            <a:pPr>
              <a:buFont typeface="+mj-lt"/>
              <a:buAutoNum type="arabicPeriod"/>
            </a:pPr>
            <a:r>
              <a:rPr lang="en-GB" sz="1800" b="1" dirty="0"/>
              <a:t>Are the results what you expected? * </a:t>
            </a:r>
            <a:r>
              <a:rPr lang="en-GB" sz="1800" dirty="0"/>
              <a:t>Yes. Achieving ~54% precision is a realistic and successful outcome for a daily market direction model. Higher numbers often signal "overfitting" (cheating), while this result shows a genuine, robust edge.</a:t>
            </a:r>
          </a:p>
          <a:p>
            <a:pPr>
              <a:buFont typeface="+mj-lt"/>
              <a:buAutoNum type="arabicPeriod"/>
            </a:pPr>
            <a:r>
              <a:rPr lang="en-GB" sz="1800" b="1" dirty="0"/>
              <a:t>Key takeaways:</a:t>
            </a:r>
          </a:p>
          <a:p>
            <a:pPr lvl="1"/>
            <a:r>
              <a:rPr lang="en-GB" sz="1400" b="1" dirty="0"/>
              <a:t>Modularity is King: </a:t>
            </a:r>
            <a:r>
              <a:rPr lang="en-GB" sz="1400" dirty="0"/>
              <a:t>The Pipeline makes the project professional and maintainable.</a:t>
            </a:r>
          </a:p>
          <a:p>
            <a:pPr lvl="1"/>
            <a:r>
              <a:rPr lang="en-GB" sz="1400" b="1" dirty="0"/>
              <a:t>Bias Awareness: </a:t>
            </a:r>
            <a:r>
              <a:rPr lang="en-GB" sz="1400" dirty="0"/>
              <a:t>Knowing the model is bullish-biased allows a trader to use it as a "confirmation signal" rather than a standalone decider.</a:t>
            </a:r>
          </a:p>
          <a:p>
            <a:pPr lvl="1"/>
            <a:r>
              <a:rPr lang="en-GB" sz="1400" b="1" dirty="0"/>
              <a:t>Dimensionality Reduction: </a:t>
            </a:r>
            <a:r>
              <a:rPr lang="en-GB" sz="1400" dirty="0"/>
              <a:t>PCA was critical in moving from a noisy 51% precision to a more stable 53.7%.</a:t>
            </a: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2934882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8C16AC24-A8A7-0BB1-8B74-014FDF047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 err="1"/>
              <a:t>Contact</a:t>
            </a:r>
            <a:r>
              <a:rPr lang="es-419" dirty="0"/>
              <a:t> &amp; Q&amp;A</a:t>
            </a:r>
            <a:br>
              <a:rPr lang="es-419" dirty="0"/>
            </a:br>
            <a:r>
              <a:rPr lang="en-GB" sz="2000" dirty="0"/>
              <a:t>Thank You for Your Time!</a:t>
            </a:r>
            <a:br>
              <a:rPr lang="es-419" dirty="0"/>
            </a:br>
            <a:endParaRPr lang="es-419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30526F74-56B3-2B4C-B216-F94F1998C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Let's Connect: </a:t>
            </a:r>
            <a:r>
              <a:rPr lang="en-GB" dirty="0"/>
              <a:t>I am always open to discussing Machine Learning Engineering, Financial Markets, and Algorithmic Trading.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Q&amp;A: </a:t>
            </a:r>
            <a:r>
              <a:rPr lang="en-GB" dirty="0"/>
              <a:t>Feel free to ask any questions regarding the Pipeline architecture, the PCA variance threshold, or the model's bullish bias.</a:t>
            </a:r>
          </a:p>
          <a:p>
            <a:pPr marL="0" indent="0">
              <a:buNone/>
            </a:pPr>
            <a:endParaRPr lang="es-419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139B3E0-31BB-F8CC-2F22-A4ADA4688EE6}"/>
              </a:ext>
            </a:extLst>
          </p:cNvPr>
          <p:cNvSpPr txBox="1"/>
          <p:nvPr/>
        </p:nvSpPr>
        <p:spPr>
          <a:xfrm>
            <a:off x="2018108" y="5248275"/>
            <a:ext cx="63829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GitHub: </a:t>
            </a:r>
            <a:r>
              <a:rPr lang="en-GB" dirty="0">
                <a:hlinkClick r:id="rId2"/>
              </a:rPr>
              <a:t>https://github.com/gabrielarcangelbol/</a:t>
            </a:r>
            <a:r>
              <a:rPr lang="en-GB" dirty="0"/>
              <a:t> - “Check out the full repository and the </a:t>
            </a:r>
            <a:r>
              <a:rPr lang="en-GB" dirty="0" err="1"/>
              <a:t>Jupyter</a:t>
            </a:r>
            <a:r>
              <a:rPr lang="en-GB" dirty="0"/>
              <a:t> Notebook.”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LinkedIn: </a:t>
            </a:r>
            <a:r>
              <a:rPr lang="en-GB" dirty="0">
                <a:hlinkClick r:id="rId3"/>
              </a:rPr>
              <a:t>https://www.linkedin.com/in/</a:t>
            </a:r>
            <a:r>
              <a:rPr lang="en-GB">
                <a:hlinkClick r:id="rId3"/>
              </a:rPr>
              <a:t>gabrielarcangelbol/</a:t>
            </a:r>
            <a:r>
              <a:rPr lang="en-GB"/>
              <a:t> - </a:t>
            </a:r>
            <a:r>
              <a:rPr lang="en-GB" dirty="0"/>
              <a:t>“Let's talk about AI &amp; Data Science.”</a:t>
            </a:r>
          </a:p>
          <a:p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636555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61</TotalTime>
  <Words>742</Words>
  <Application>Microsoft Office PowerPoint</Application>
  <PresentationFormat>Presentación en pantalla (4:3)</PresentationFormat>
  <Paragraphs>37</Paragraphs>
  <Slides>7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Tw Cen MT</vt:lpstr>
      <vt:lpstr>Circuito</vt:lpstr>
      <vt:lpstr>Predicting Market Direction: An ML Engineering Approach</vt:lpstr>
      <vt:lpstr>Project Overview &amp; Objective</vt:lpstr>
      <vt:lpstr>Engineering for Noise Reduction (PCA)</vt:lpstr>
      <vt:lpstr>The Production-Ready Pipeline</vt:lpstr>
      <vt:lpstr>Final Results &amp; Performance</vt:lpstr>
      <vt:lpstr>Conclusion &amp; Key Takeaways</vt:lpstr>
      <vt:lpstr>Contact &amp; Q&amp;A Thank You for Your Time!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Gabriel Arcángel Bol</cp:lastModifiedBy>
  <cp:revision>6</cp:revision>
  <dcterms:created xsi:type="dcterms:W3CDTF">2013-01-27T09:14:16Z</dcterms:created>
  <dcterms:modified xsi:type="dcterms:W3CDTF">2026-01-11T14:33:45Z</dcterms:modified>
  <cp:category/>
</cp:coreProperties>
</file>